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€M</c:v>
                </c:pt>
              </c:strCache>
            </c:strRef>
          </c:tx>
          <c:spPr>
            <a:solidFill>
              <a:srgbClr val="2E6E8E"/>
            </a:solidFill>
            <a:effectLst/>
          </c:spPr>
          <c:invertIfNegative val="0"/>
          <c:dLbls>
            <c:numFmt formatCode="€0.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A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Office Supplies</c:v>
                  </c:pt>
                  <c:pt idx="1">
                    <c:v>Packaging</c:v>
                  </c:pt>
                  <c:pt idx="2">
                    <c:v>MRO &amp; Maint.</c:v>
                  </c:pt>
                  <c:pt idx="3">
                    <c:v>Travel</c:v>
                  </c:pt>
                  <c:pt idx="4">
                    <c:v>Software &amp; SaaS</c:v>
                  </c:pt>
                  <c:pt idx="5">
                    <c:v>IT Hardware</c:v>
                  </c:pt>
                  <c:pt idx="6">
                    <c:v>Logistics</c:v>
                  </c:pt>
                  <c:pt idx="7">
                    <c:v>Facilities</c:v>
                  </c:pt>
                  <c:pt idx="8">
                    <c:v>Prof. Services</c:v>
                  </c:pt>
                  <c:pt idx="9">
                    <c:v>Marketing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1.15</c:v>
                </c:pt>
                <c:pt idx="1">
                  <c:v>1.49</c:v>
                </c:pt>
                <c:pt idx="2">
                  <c:v>4.15</c:v>
                </c:pt>
                <c:pt idx="3">
                  <c:v>5.02</c:v>
                </c:pt>
                <c:pt idx="4">
                  <c:v>6.35</c:v>
                </c:pt>
                <c:pt idx="5">
                  <c:v>6.55</c:v>
                </c:pt>
                <c:pt idx="6">
                  <c:v>9.52</c:v>
                </c:pt>
                <c:pt idx="7">
                  <c:v>13.38</c:v>
                </c:pt>
                <c:pt idx="8">
                  <c:v>19.94</c:v>
                </c:pt>
                <c:pt idx="9">
                  <c:v>24.95</c:v>
                </c:pt>
              </c:numCache>
            </c:numRef>
          </c:val>
        </c:ser>
        <c:dLbls>
          <c:numFmt formatCode="€0.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E2A3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A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€M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€0.0&quot;M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A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 — top 80%  (14)</c:v>
                  </c:pt>
                  <c:pt idx="1">
                    <c:v>B — next 15%  (34)</c:v>
                  </c:pt>
                  <c:pt idx="2">
                    <c:v>C — tail 5%  (61)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72.86</c:v>
                </c:pt>
                <c:pt idx="1">
                  <c:v>14.85</c:v>
                </c:pt>
                <c:pt idx="2">
                  <c:v>4.79</c:v>
                </c:pt>
              </c:numCache>
            </c:numRef>
          </c:val>
        </c:ser>
        <c:dLbls>
          <c:numFmt formatCode="€0.0&quot;M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E2A3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A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Recoverable €M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€0.00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IT Hardware</c:v>
                  </c:pt>
                  <c:pt idx="1">
                    <c:v>Facilities</c:v>
                  </c:pt>
                  <c:pt idx="2">
                    <c:v>Logistics</c:v>
                  </c:pt>
                  <c:pt idx="3">
                    <c:v>Marketing</c:v>
                  </c:pt>
                  <c:pt idx="4">
                    <c:v>Prof. Services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0.52</c:v>
                </c:pt>
                <c:pt idx="1">
                  <c:v>0.54</c:v>
                </c:pt>
                <c:pt idx="2">
                  <c:v>0.72</c:v>
                </c:pt>
                <c:pt idx="3">
                  <c:v>1.29</c:v>
                </c:pt>
                <c:pt idx="4">
                  <c:v>1.49</c:v>
                </c:pt>
              </c:numCache>
            </c:numRef>
          </c:val>
        </c:ser>
        <c:dLbls>
          <c:numFmt formatCode="€0.00&quot;M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E2A3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A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7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Maverick %</c:v>
                </c:pt>
              </c:strCache>
            </c:strRef>
          </c:tx>
          <c:spPr>
            <a:solidFill>
              <a:srgbClr val="2E6E8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3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Central Functions</c:v>
                  </c:pt>
                  <c:pt idx="1">
                    <c:v>Operations North</c:v>
                  </c:pt>
                  <c:pt idx="2">
                    <c:v>Digital &amp; Tech</c:v>
                  </c:pt>
                  <c:pt idx="3">
                    <c:v>Operations South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11.8</c:v>
                </c:pt>
                <c:pt idx="1">
                  <c:v>14.3</c:v>
                </c:pt>
                <c:pt idx="2">
                  <c:v>16.6</c:v>
                </c:pt>
                <c:pt idx="3">
                  <c:v>23.7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E2A3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A3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self-directed consulting case study built on synthetic procurement data. I framed myself as the consultant: a fast-growing logistics-tech scale-up handed me €92.5M of indirect spend and asked where the money was leaking and what to do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slide that follows answers one of these four questions. Framing the mandate up front is what keeps a portfolio project from looking like a pile of charts — it gives the analysis a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ties the project to the Google Data Analytics framework. The one point to make in an interview: the contracts table is what makes maverick-spend analysis possible — a LEFT JOIN that flags any spend placed with a non-contracted supplier in a contracted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Two-thirds of spend in three categories means category management effort should concentrate there. The October spike is a behavioural insight — budgets being flushed before year-end — which is a governance conversation, not a sourcing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Concentration cuts both ways — that's the phrase to use. 80% of spend with 14 suppliers is leverage you can negotiate against, but one supplier at 16% is a single point of failure the investors will ask about. The recommendation handles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linger on in an interview. The raw analysis flagged IT Hardware because its price spreads are 33-37%. But IT Hardware is a small category. When you weight by spend, Professional Services and Marketing dwarf it. Reordering the priority by euros at stake is the judgment call that separates an analyst from a category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Maverick spend isn't a pricing problem you negotiate away — it's a compliance problem you fix with process. Operations South at 23.7% is the obvious first target. The key line: this pays back quickly because it needs no new supplier negotiation, just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deck. Anyone can quote a theoretical ceiling. Showing that I know why we won't capture all of it — and stating the capture assumptions openly — is what makes the number credible. If challenged, I'd defend each capture rate as conservative and adjustable once category owners validate the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Sequenced by value and readiness. Priorities 1-3 are the savings; the gold 'risk move' is the de-risking the client explicitly asked for ahead of the funding round. Note the ordering within Priority 1 — big euros first, worst discipline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roadmap sequences the levers deliberately: quick wins and dashboard first to build momentum and a measurement baseline, compliance next because it's fast, then the sourcing waves that take longest. Savings tracking starts early so impact is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headline number, the three levers, and the risk fix. The whole story in one breath: I read a €92.5M spend base and turned it into a prioritised, capture-adjusted savings agenda with a 90-day plan — and I can defend every number against the underlying 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324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CONSULTING CASE STUDY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Indirect Spend Optimisation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Supplier Rationalisation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€92.5M of indirect spend into a prioritised sourcing agenda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489204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  </a:t>
            </a:r>
            <a:pPr indent="0" marL="0">
              <a:buNone/>
            </a:pPr>
            <a:r>
              <a:rPr lang="en-US" sz="13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anonymised  ·  Data: synthetic, 13,199 PO lines / 109 suppliers / 24 months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230368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 </a:t>
            </a:r>
            <a:pPr indent="0" marL="0">
              <a:buNone/>
            </a:pPr>
            <a:r>
              <a:rPr lang="en-US" sz="13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Shruti Morab  ·  Procurement &amp; Strategic Sourcing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questions from the client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scaled fast; indirect procurement did not keep pace. Ahead of a funding round, leadership wanted demonstrable savings and a de-risked supply base.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58384" cy="169164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920240" y="2350008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our indirect spend concentrated — and where is it fragmenting?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281928" y="2057400"/>
            <a:ext cx="5358384" cy="169164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653528" y="2350008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spend bypasses our contracts, and what is it costing us?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5358384" cy="169164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4251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920240" y="4270248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and suppliers are the priority savings opportunities?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281928" y="3977640"/>
            <a:ext cx="5358384" cy="1691640"/>
          </a:xfrm>
          <a:prstGeom prst="roundRect">
            <a:avLst>
              <a:gd name="adj" fmla="val 4324"/>
            </a:avLst>
          </a:prstGeom>
          <a:solidFill>
            <a:srgbClr val="EEF3F7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425196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7653528" y="4270248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do first — over the next 90 days?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Spend Optimisation  ·  Procurement Consulting Case Study  ·  synthetic data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structured analytics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applied the Ask–Prepare–Process–Analyse–Share–Act framework to the client's line-item purchase-order data — a classic spend cube with a contracts table that flags off-contract buying.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757172" cy="2651760"/>
          </a:xfrm>
          <a:prstGeom prst="roundRect">
            <a:avLst>
              <a:gd name="adj" fmla="val 3643"/>
            </a:avLst>
          </a:prstGeom>
          <a:solidFill>
            <a:srgbClr val="E3EDF3"/>
          </a:solidFill>
          <a:ln/>
        </p:spPr>
      </p:sp>
      <p:sp>
        <p:nvSpPr>
          <p:cNvPr id="6" name="Shape 4"/>
          <p:cNvSpPr/>
          <p:nvPr/>
        </p:nvSpPr>
        <p:spPr>
          <a:xfrm>
            <a:off x="1134618" y="2496312"/>
            <a:ext cx="585216" cy="585216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7" name="Text 5"/>
          <p:cNvSpPr/>
          <p:nvPr/>
        </p:nvSpPr>
        <p:spPr>
          <a:xfrm>
            <a:off x="1134618" y="2514600"/>
            <a:ext cx="585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3200400"/>
            <a:ext cx="16657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6656" y="3611880"/>
            <a:ext cx="15011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four questions into testable hypotheses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15540" y="2240280"/>
            <a:ext cx="1757172" cy="2651760"/>
          </a:xfrm>
          <a:prstGeom prst="roundRect">
            <a:avLst>
              <a:gd name="adj" fmla="val 3643"/>
            </a:avLst>
          </a:prstGeom>
          <a:solidFill>
            <a:srgbClr val="EEF3F7"/>
          </a:solidFill>
          <a:ln/>
        </p:spPr>
      </p:sp>
      <p:sp>
        <p:nvSpPr>
          <p:cNvPr id="11" name="Shape 9"/>
          <p:cNvSpPr/>
          <p:nvPr/>
        </p:nvSpPr>
        <p:spPr>
          <a:xfrm>
            <a:off x="3001518" y="2496312"/>
            <a:ext cx="585216" cy="585216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12" name="Text 10"/>
          <p:cNvSpPr/>
          <p:nvPr/>
        </p:nvSpPr>
        <p:spPr>
          <a:xfrm>
            <a:off x="3001518" y="2514600"/>
            <a:ext cx="585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61260" y="3200400"/>
            <a:ext cx="16657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43556" y="3611880"/>
            <a:ext cx="15011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 quality: no orphans, no bad values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82440" y="2240280"/>
            <a:ext cx="1757172" cy="2651760"/>
          </a:xfrm>
          <a:prstGeom prst="roundRect">
            <a:avLst>
              <a:gd name="adj" fmla="val 3643"/>
            </a:avLst>
          </a:prstGeom>
          <a:solidFill>
            <a:srgbClr val="E3EDF3"/>
          </a:solidFill>
          <a:ln/>
        </p:spPr>
      </p:sp>
      <p:sp>
        <p:nvSpPr>
          <p:cNvPr id="16" name="Shape 14"/>
          <p:cNvSpPr/>
          <p:nvPr/>
        </p:nvSpPr>
        <p:spPr>
          <a:xfrm>
            <a:off x="4868418" y="2496312"/>
            <a:ext cx="585216" cy="585216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17" name="Text 15"/>
          <p:cNvSpPr/>
          <p:nvPr/>
        </p:nvSpPr>
        <p:spPr>
          <a:xfrm>
            <a:off x="4868418" y="2514600"/>
            <a:ext cx="585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328160" y="3200400"/>
            <a:ext cx="16657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10456" y="3611880"/>
            <a:ext cx="15011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by category, BU, supplier, month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49340" y="2240280"/>
            <a:ext cx="1757172" cy="2651760"/>
          </a:xfrm>
          <a:prstGeom prst="roundRect">
            <a:avLst>
              <a:gd name="adj" fmla="val 3643"/>
            </a:avLst>
          </a:prstGeom>
          <a:solidFill>
            <a:srgbClr val="EEF3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735318" y="2496312"/>
            <a:ext cx="585216" cy="585216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22" name="Text 20"/>
          <p:cNvSpPr/>
          <p:nvPr/>
        </p:nvSpPr>
        <p:spPr>
          <a:xfrm>
            <a:off x="6735318" y="2514600"/>
            <a:ext cx="585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95060" y="3200400"/>
            <a:ext cx="16657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77356" y="3611880"/>
            <a:ext cx="15011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Pareto/ABC, price variance, maverick, tail — in SQL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16240" y="2240280"/>
            <a:ext cx="1757172" cy="2651760"/>
          </a:xfrm>
          <a:prstGeom prst="roundRect">
            <a:avLst>
              <a:gd name="adj" fmla="val 3643"/>
            </a:avLst>
          </a:prstGeom>
          <a:solidFill>
            <a:srgbClr val="E3EDF3"/>
          </a:solidFill>
          <a:ln/>
        </p:spPr>
      </p:sp>
      <p:sp>
        <p:nvSpPr>
          <p:cNvPr id="26" name="Shape 24"/>
          <p:cNvSpPr/>
          <p:nvPr/>
        </p:nvSpPr>
        <p:spPr>
          <a:xfrm>
            <a:off x="8602218" y="2496312"/>
            <a:ext cx="585216" cy="585216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27" name="Text 25"/>
          <p:cNvSpPr/>
          <p:nvPr/>
        </p:nvSpPr>
        <p:spPr>
          <a:xfrm>
            <a:off x="8602218" y="2514600"/>
            <a:ext cx="585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061960" y="3200400"/>
            <a:ext cx="16657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144256" y="3611880"/>
            <a:ext cx="15011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for a non-technical audience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883140" y="2240280"/>
            <a:ext cx="1757172" cy="2651760"/>
          </a:xfrm>
          <a:prstGeom prst="roundRect">
            <a:avLst>
              <a:gd name="adj" fmla="val 3643"/>
            </a:avLst>
          </a:prstGeom>
          <a:solidFill>
            <a:srgbClr val="EEF3F7"/>
          </a:solidFill>
          <a:ln/>
        </p:spPr>
      </p:sp>
      <p:sp>
        <p:nvSpPr>
          <p:cNvPr id="31" name="Shape 29"/>
          <p:cNvSpPr/>
          <p:nvPr/>
        </p:nvSpPr>
        <p:spPr>
          <a:xfrm>
            <a:off x="10469118" y="2496312"/>
            <a:ext cx="585216" cy="585216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32" name="Text 30"/>
          <p:cNvSpPr/>
          <p:nvPr/>
        </p:nvSpPr>
        <p:spPr>
          <a:xfrm>
            <a:off x="10469118" y="2514600"/>
            <a:ext cx="5852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928860" y="3200400"/>
            <a:ext cx="16657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011156" y="3611880"/>
            <a:ext cx="15011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Capture-adjusted savings bridge + 90-day roadmap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Spend Optimisation  ·  Procurement Consulting Case Study  ·  synthetic data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— WHERE THE MONEY GOES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 concentrates in three categories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0408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737360"/>
            <a:ext cx="3776472" cy="2103120"/>
          </a:xfrm>
          <a:prstGeom prst="roundRect">
            <a:avLst>
              <a:gd name="adj" fmla="val 3478"/>
            </a:avLst>
          </a:prstGeom>
          <a:solidFill>
            <a:srgbClr val="EEF3F7"/>
          </a:solidFill>
          <a:ln/>
        </p:spPr>
      </p:sp>
      <p:sp>
        <p:nvSpPr>
          <p:cNvPr id="6" name="Text 3"/>
          <p:cNvSpPr/>
          <p:nvPr/>
        </p:nvSpPr>
        <p:spPr>
          <a:xfrm>
            <a:off x="8001000" y="19202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~63%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028432" y="274320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€92.5M base sits in just three categories — Marketing, Professional Services and Facilities.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863840" y="4023360"/>
            <a:ext cx="3776472" cy="2103120"/>
          </a:xfrm>
          <a:prstGeom prst="roundRect">
            <a:avLst>
              <a:gd name="adj" fmla="val 3478"/>
            </a:avLst>
          </a:prstGeom>
          <a:solidFill>
            <a:srgbClr val="1F3A5F"/>
          </a:solidFill>
          <a:ln/>
        </p:spPr>
      </p:sp>
      <p:sp>
        <p:nvSpPr>
          <p:cNvPr id="9" name="Text 6"/>
          <p:cNvSpPr/>
          <p:nvPr/>
        </p:nvSpPr>
        <p:spPr>
          <a:xfrm>
            <a:off x="8028432" y="42062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calendar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28432" y="4617720"/>
            <a:ext cx="345643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recurring October spike (~€5.0M vs €3.4M baseline) points to year-end budget-flush — a governance flag, not just a number.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Spend Optimisation  ·  Procurement Consulting Case Study  ·  synthetic data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— SUPPLIER CONCENTRATION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Leverage on one side, risk on the other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3F7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85623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— 13% of the base — carry 80% of all spend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6916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EF3F7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856232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434840" y="2606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spend sits with a single supplier: concentration risk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593592" cy="1737360"/>
          </a:xfrm>
          <a:prstGeom prst="roundRect">
            <a:avLst>
              <a:gd name="adj" fmla="val 4211"/>
            </a:avLst>
          </a:prstGeom>
          <a:solidFill>
            <a:srgbClr val="EEF3F7"/>
          </a:solidFill>
          <a:ln/>
        </p:spPr>
      </p:sp>
      <p:sp>
        <p:nvSpPr>
          <p:cNvPr id="11" name="Text 9"/>
          <p:cNvSpPr/>
          <p:nvPr/>
        </p:nvSpPr>
        <p:spPr>
          <a:xfrm>
            <a:off x="8092440" y="1856232"/>
            <a:ext cx="3502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183880" y="2606040"/>
            <a:ext cx="3319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C-suppliers share under €5M — a long, costly-to-serve tail</a:t>
            </a:r>
            <a:endParaRPr lang="en-US" sz="125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48640" y="3794760"/>
          <a:ext cx="69494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7772400" y="3794760"/>
            <a:ext cx="3867912" cy="2286000"/>
          </a:xfrm>
          <a:prstGeom prst="roundRect">
            <a:avLst>
              <a:gd name="adj" fmla="val 3200"/>
            </a:avLst>
          </a:prstGeom>
          <a:solidFill>
            <a:srgbClr val="EEF3F7"/>
          </a:solidFill>
          <a:ln/>
        </p:spPr>
      </p:sp>
      <p:sp>
        <p:nvSpPr>
          <p:cNvPr id="15" name="Text 12"/>
          <p:cNvSpPr/>
          <p:nvPr/>
        </p:nvSpPr>
        <p:spPr>
          <a:xfrm>
            <a:off x="7955280" y="3977640"/>
            <a:ext cx="3520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concentrated head is negotiating leverage — but the single-supplier exposure is a funding-round risk. De-risk the top 3 with dual-sourcing while pushing the tail toward consolidation.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Spend Optimisation  ·  Procurement Consulting Case Study  ·  synthetic data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— PRICE VARIANCE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biggest prize — and a reframe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€5.68M (6.1%) </a:t>
            </a:r>
            <a:pPr indent="0" marL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spend is theoretically recoverable by repricing identical items to their best observed price. IT Hardware has the worst % spread — but the </a:t>
            </a:r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euros live in the big categories.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48840"/>
          <a:ext cx="70408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2286000"/>
            <a:ext cx="3776472" cy="3657600"/>
          </a:xfrm>
          <a:prstGeom prst="roundRect">
            <a:avLst>
              <a:gd name="adj" fmla="val 2000"/>
            </a:avLst>
          </a:prstGeom>
          <a:solidFill>
            <a:srgbClr val="1F3A5F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0" y="24871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Consultant's read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0" y="2926080"/>
            <a:ext cx="345643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spread tells you where discipline is worst.</a:t>
            </a:r>
            <a:endParaRPr lang="en-US" sz="1350" dirty="0"/>
          </a:p>
          <a:p>
            <a:pPr indent="0" marL="0">
              <a:lnSpc>
                <a:spcPct val="102000"/>
              </a:lnSpc>
              <a:buNone/>
            </a:pPr>
            <a:endParaRPr lang="en-US" sz="13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euros tell you where to start.</a:t>
            </a:r>
            <a:endParaRPr lang="en-US" sz="1350" dirty="0"/>
          </a:p>
          <a:p>
            <a:pPr indent="0" marL="0">
              <a:lnSpc>
                <a:spcPct val="102000"/>
              </a:lnSpc>
              <a:buNone/>
            </a:pPr>
            <a:endParaRPr lang="en-US" sz="13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and Marketing carry ~3× the recoverable value of IT Hardware — so the sourcing agenda leads with them.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Spend Optimisation  ·  Procurement Consulting Case Study  ·  synthetic data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 — MAVERICK SPEND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process problem with a name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16.5% </a:t>
            </a:r>
            <a:pPr indent="0" marL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network spend (€15.2M) is off-contract — and it clusters. Off-contract lines carry an </a:t>
            </a:r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8.4% price premium </a:t>
            </a:r>
            <a:pPr indent="0" marL="0">
              <a:buNone/>
            </a:pPr>
            <a:r>
              <a:rPr lang="en-US" sz="15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€1.2M of annual leakage.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57400"/>
          <a:ext cx="70408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2148840"/>
            <a:ext cx="3776472" cy="1828800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/>
        </p:spPr>
      </p:sp>
      <p:sp>
        <p:nvSpPr>
          <p:cNvPr id="7" name="Text 4"/>
          <p:cNvSpPr/>
          <p:nvPr/>
        </p:nvSpPr>
        <p:spPr>
          <a:xfrm>
            <a:off x="7909560" y="2313432"/>
            <a:ext cx="3685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23.7%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001000" y="3063240"/>
            <a:ext cx="35021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off-contract at Operations South — double the best-performing unit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863840" y="4160520"/>
            <a:ext cx="3776472" cy="1783080"/>
          </a:xfrm>
          <a:prstGeom prst="roundRect">
            <a:avLst>
              <a:gd name="adj" fmla="val 4103"/>
            </a:avLst>
          </a:prstGeom>
          <a:solidFill>
            <a:srgbClr val="EEF3F7"/>
          </a:solidFill>
          <a:ln/>
        </p:spPr>
      </p:sp>
      <p:sp>
        <p:nvSpPr>
          <p:cNvPr id="10" name="Text 7"/>
          <p:cNvSpPr/>
          <p:nvPr/>
        </p:nvSpPr>
        <p:spPr>
          <a:xfrm>
            <a:off x="8028432" y="4315968"/>
            <a:ext cx="34564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process, not negotiation: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coverage, approval workflows, and BU-level compliance scorecards.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Spend Optimisation  ·  Procurement Consulting Case Study  ·  synthetic data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SAVINGS BRIDGE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theoretical ceiling to what sourcing actually captures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223F5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FB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~€4.0M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ceiling / yr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23360" y="173736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0" y="19659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€1.3–1.9M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02336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annual opportunity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0" y="17830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the point. The ceiling assumes every line hits its best-ever price and every off-contract euro is recovered. The realistic figure applies capture rates that reflect how sourcing lands.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88620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766560" y="3886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Identified/yr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0" y="3886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0" y="3886200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Realistic/yr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270248"/>
            <a:ext cx="11091672" cy="548640"/>
          </a:xfrm>
          <a:prstGeom prst="roundRect">
            <a:avLst>
              <a:gd name="adj" fmla="val 8333"/>
            </a:avLst>
          </a:prstGeom>
          <a:solidFill>
            <a:srgbClr val="223F5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27024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agreements + catalogue enforcement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427024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€2.28M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427024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0" y="4270248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€0.7–1.1M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928616"/>
            <a:ext cx="11091672" cy="548640"/>
          </a:xfrm>
          <a:prstGeom prst="roundRect">
            <a:avLst>
              <a:gd name="adj" fmla="val 8333"/>
            </a:avLst>
          </a:prstGeom>
          <a:solidFill>
            <a:srgbClr val="1B3A58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928616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Maverick-spend compliance (Operations South first)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6560" y="492861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€1.20M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0" y="492861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50–60%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0" y="4928616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€0.6–0.7M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5586984"/>
            <a:ext cx="11091672" cy="548640"/>
          </a:xfrm>
          <a:prstGeom prst="roundRect">
            <a:avLst>
              <a:gd name="adj" fmla="val 8333"/>
            </a:avLst>
          </a:prstGeom>
          <a:solidFill>
            <a:srgbClr val="223F5E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586984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consolidation (MRO, Office Supplies, Packaging)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558698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€0.09M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0" y="558698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0" y="5586984"/>
            <a:ext cx="1444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€0.04M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rates are stated assumptions — to be tightened with category owners before targets are set.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sourcing moves and one risk move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987552"/>
          </a:xfrm>
          <a:prstGeom prst="roundRect">
            <a:avLst>
              <a:gd name="adj" fmla="val 6481"/>
            </a:avLst>
          </a:prstGeom>
          <a:solidFill>
            <a:srgbClr val="EEF3F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73936"/>
            <a:ext cx="640080" cy="640080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7393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174650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agreements + catalogue enforcement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91640" y="210312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Professional Services and Marketing (biggest €), then IT Hardware (worst spread). Removes price variance at source.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34056"/>
            <a:ext cx="11091672" cy="987552"/>
          </a:xfrm>
          <a:prstGeom prst="roundRect">
            <a:avLst>
              <a:gd name="adj" fmla="val 6481"/>
            </a:avLst>
          </a:prstGeom>
          <a:solidFill>
            <a:srgbClr val="EEF3F7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907792"/>
            <a:ext cx="640080" cy="640080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9077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28803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Maverick-spend compliance programme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691640" y="3236976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Operations South first: catalogue coverage, approval workflows, BU compliance scorecards. Fast payback, no negotiation.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67912"/>
            <a:ext cx="11091672" cy="987552"/>
          </a:xfrm>
          <a:prstGeom prst="roundRect">
            <a:avLst>
              <a:gd name="adj" fmla="val 6481"/>
            </a:avLst>
          </a:prstGeom>
          <a:solidFill>
            <a:srgbClr val="EEF3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041648"/>
            <a:ext cx="640080" cy="640080"/>
          </a:xfrm>
          <a:prstGeom prst="ellipse">
            <a:avLst/>
          </a:prstGeom>
          <a:solidFill>
            <a:srgbClr val="2E6E8E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416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91640" y="4014216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consolidation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91640" y="437083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sub-€100k tail in MRO, Office Supplies and Packaging onto preferred suppliers. Modest savings, easy early win.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001768"/>
            <a:ext cx="11091672" cy="987552"/>
          </a:xfrm>
          <a:prstGeom prst="roundRect">
            <a:avLst>
              <a:gd name="adj" fmla="val 6481"/>
            </a:avLst>
          </a:prstGeom>
          <a:solidFill>
            <a:srgbClr val="FBF3DC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175504"/>
            <a:ext cx="640080" cy="64008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7550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691640" y="514807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 the top of the base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691640" y="550468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Dual-source the top 3 suppliers and build a contract-expiry pipeline — directly answers the funding-round readiness ask.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Spend Optimisation  ·  Procurement Consulting Case Study  ·  synthetic data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90-day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35758" cy="621792"/>
          </a:xfrm>
          <a:prstGeom prst="roundRect">
            <a:avLst>
              <a:gd name="adj" fmla="val 8824"/>
            </a:avLst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55648"/>
            <a:ext cx="263575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0–30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487168"/>
            <a:ext cx="25443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Mobilise &amp; quick wins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2635758" cy="2880360"/>
          </a:xfrm>
          <a:prstGeom prst="roundRect">
            <a:avLst>
              <a:gd name="adj" fmla="val 2082"/>
            </a:avLst>
          </a:prstGeom>
          <a:solidFill>
            <a:srgbClr val="EEF3F7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3200400"/>
            <a:ext cx="223342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findings with category owners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Office Supplies / MRO tail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spend dashboard (monthly)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67278" y="1737360"/>
            <a:ext cx="2635758" cy="621792"/>
          </a:xfrm>
          <a:prstGeom prst="roundRect">
            <a:avLst>
              <a:gd name="adj" fmla="val 8824"/>
            </a:avLst>
          </a:prstGeom>
          <a:solidFill>
            <a:srgbClr val="1F3A5F"/>
          </a:solidFill>
          <a:ln/>
        </p:spPr>
      </p:sp>
      <p:sp>
        <p:nvSpPr>
          <p:cNvPr id="10" name="Text 8"/>
          <p:cNvSpPr/>
          <p:nvPr/>
        </p:nvSpPr>
        <p:spPr>
          <a:xfrm>
            <a:off x="3367278" y="1755648"/>
            <a:ext cx="263575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30–60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12998" y="2487168"/>
            <a:ext cx="25443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catalogue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367278" y="3017520"/>
            <a:ext cx="2635758" cy="2880360"/>
          </a:xfrm>
          <a:prstGeom prst="roundRect">
            <a:avLst>
              <a:gd name="adj" fmla="val 2082"/>
            </a:avLst>
          </a:prstGeom>
          <a:solidFill>
            <a:srgbClr val="EEF3F7"/>
          </a:solidFill>
          <a:ln/>
        </p:spPr>
      </p:sp>
      <p:sp>
        <p:nvSpPr>
          <p:cNvPr id="13" name="Text 11"/>
          <p:cNvSpPr/>
          <p:nvPr/>
        </p:nvSpPr>
        <p:spPr>
          <a:xfrm>
            <a:off x="3568446" y="3200400"/>
            <a:ext cx="223342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maverick programme — Ops South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coverage + approval workflows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compliance scorecards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5916" y="1737360"/>
            <a:ext cx="2635758" cy="621792"/>
          </a:xfrm>
          <a:prstGeom prst="roundRect">
            <a:avLst>
              <a:gd name="adj" fmla="val 8824"/>
            </a:avLst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85916" y="1755648"/>
            <a:ext cx="263575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60–90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31636" y="2487168"/>
            <a:ext cx="25443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waves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85916" y="3017520"/>
            <a:ext cx="2635758" cy="2880360"/>
          </a:xfrm>
          <a:prstGeom prst="roundRect">
            <a:avLst>
              <a:gd name="adj" fmla="val 2082"/>
            </a:avLst>
          </a:prstGeom>
          <a:solidFill>
            <a:srgbClr val="EEF3F7"/>
          </a:solidFill>
          <a:ln/>
        </p:spPr>
      </p:sp>
      <p:sp>
        <p:nvSpPr>
          <p:cNvPr id="18" name="Text 16"/>
          <p:cNvSpPr/>
          <p:nvPr/>
        </p:nvSpPr>
        <p:spPr>
          <a:xfrm>
            <a:off x="6387084" y="3200400"/>
            <a:ext cx="223342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tenders: Prof. Services, IT HW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Dual-source plan for top-3 suppliers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savings tracking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04554" y="1737360"/>
            <a:ext cx="2635758" cy="621792"/>
          </a:xfrm>
          <a:prstGeom prst="roundRect">
            <a:avLst>
              <a:gd name="adj" fmla="val 8824"/>
            </a:avLst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9004554" y="1755648"/>
            <a:ext cx="263575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90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50274" y="2487168"/>
            <a:ext cx="25443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sustain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004554" y="3017520"/>
            <a:ext cx="2635758" cy="2880360"/>
          </a:xfrm>
          <a:prstGeom prst="roundRect">
            <a:avLst>
              <a:gd name="adj" fmla="val 2082"/>
            </a:avLst>
          </a:prstGeom>
          <a:solidFill>
            <a:srgbClr val="EEF3F7"/>
          </a:solidFill>
          <a:ln/>
        </p:spPr>
      </p:sp>
      <p:sp>
        <p:nvSpPr>
          <p:cNvPr id="23" name="Text 21"/>
          <p:cNvSpPr/>
          <p:nvPr/>
        </p:nvSpPr>
        <p:spPr>
          <a:xfrm>
            <a:off x="9205722" y="3200400"/>
            <a:ext cx="223342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frameworks to Marketing / Facilities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Contract-expiry pipeline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reviews with A-suppliers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Spend Optimisation  ·  Procurement Consulting Case Study  ·  synthetic data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64592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€92.5M spend base, read as a sourcing agenda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32004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223F5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456432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€1.3–1.9M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78992" y="4206240"/>
            <a:ext cx="30540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annual savings, honestly haircut from a ~€4M ceiling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45152" y="32004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223F5E"/>
          </a:solidFill>
          <a:ln/>
        </p:spPr>
      </p:sp>
      <p:sp>
        <p:nvSpPr>
          <p:cNvPr id="8" name="Text 6"/>
          <p:cNvSpPr/>
          <p:nvPr/>
        </p:nvSpPr>
        <p:spPr>
          <a:xfrm>
            <a:off x="4690872" y="3456432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levers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901184" y="4206240"/>
            <a:ext cx="30540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agreements, maverick compliance, tail consolidation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467344" y="32004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223F5E"/>
          </a:solidFill>
          <a:ln/>
        </p:spPr>
      </p:sp>
      <p:sp>
        <p:nvSpPr>
          <p:cNvPr id="11" name="Text 9"/>
          <p:cNvSpPr/>
          <p:nvPr/>
        </p:nvSpPr>
        <p:spPr>
          <a:xfrm>
            <a:off x="8513064" y="3456432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risk fix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723376" y="4206240"/>
            <a:ext cx="305409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 a base where one supplier holds 16% of spend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Shruti Morab  ·  Procurement &amp; Strategic Sourcing  ·  github.com/ShrutiSMorab/procurement-spend-analytics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2026-07-15T09:35:49Z</dcterms:created>
  <dcterms:modified xsi:type="dcterms:W3CDTF">2026-07-15T09:35:49Z</dcterms:modified>
</cp:coreProperties>
</file>